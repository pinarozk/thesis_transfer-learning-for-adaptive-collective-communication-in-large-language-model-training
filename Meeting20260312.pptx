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85" r:id="rId5"/>
    <p:sldMasterId id="2147483697" r:id="rId6"/>
  </p:sldMasterIdLst>
  <p:notesMasterIdLst>
    <p:notesMasterId r:id="rId18"/>
  </p:notesMasterIdLst>
  <p:handoutMasterIdLst>
    <p:handoutMasterId r:id="rId19"/>
  </p:handoutMasterIdLst>
  <p:sldIdLst>
    <p:sldId id="2147482670" r:id="rId7"/>
    <p:sldId id="2147482671" r:id="rId8"/>
    <p:sldId id="2147482672" r:id="rId9"/>
    <p:sldId id="2147482675" r:id="rId10"/>
    <p:sldId id="2147482673" r:id="rId11"/>
    <p:sldId id="2147482676" r:id="rId12"/>
    <p:sldId id="2147482674" r:id="rId13"/>
    <p:sldId id="2147482677" r:id="rId14"/>
    <p:sldId id="2147482678" r:id="rId15"/>
    <p:sldId id="2147482679" r:id="rId16"/>
    <p:sldId id="214748268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DF34EE-6A81-1782-FA05-8415B55127A9}" name="Qiaolun Zhang" initials="QZ" userId="S::10653427@polimi.it::08ce0c54-1845-4dc2-a643-121fe94b02d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BFEC"/>
    <a:srgbClr val="4B6385"/>
    <a:srgbClr val="9CBD4F"/>
    <a:srgbClr val="6DA4BC"/>
    <a:srgbClr val="6DA4BB"/>
    <a:srgbClr val="418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46"/>
  </p:normalViewPr>
  <p:slideViewPr>
    <p:cSldViewPr snapToGrid="0">
      <p:cViewPr>
        <p:scale>
          <a:sx n="100" d="100"/>
          <a:sy n="100" d="100"/>
        </p:scale>
        <p:origin x="3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14ED0-9C78-4FB9-8EF8-41D4F0DC52E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945C0-DD78-4A38-B479-ABD580BB8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19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A11BE-5985-4958-B7BF-A4CE01A95E7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06C8C-44A2-4D7E-9A55-28D9B6052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038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BC489-250A-4B9B-A8AC-D90E9F5DFA86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A4BB"/>
                </a:solidFill>
              </a:defRPr>
            </a:lvl1pPr>
          </a:lstStyle>
          <a:p>
            <a:fld id="{5AFE0081-1ED4-41E0-88AB-D26DBE160E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560595-9B37-6E72-89A9-FA54E72EC950}"/>
              </a:ext>
            </a:extLst>
          </p:cNvPr>
          <p:cNvSpPr txBox="1"/>
          <p:nvPr userDrawn="1"/>
        </p:nvSpPr>
        <p:spPr>
          <a:xfrm>
            <a:off x="777992" y="1364655"/>
            <a:ext cx="410350" cy="3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T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E8B610F-BEE2-07E1-192A-D1504575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4329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BFDE-43AB-4F75-B1D0-46133E8091B4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4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0F50-B872-485D-AC38-DFAA977C6E6A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F2F8-0705-4C8D-ABB1-4874D8090D4D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22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47781-874B-4AE3-8372-989643D57E20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5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1C61F-75F7-4836-9BCB-7722A6FF4EA6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9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D590-9914-4EE9-B28D-E96FE88212FE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9492B-B35F-4AD8-B86B-7F1F6E66B34F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9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690-944D-4828-BE80-089D1C590CAA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2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9DD3B-D375-4E73-AD99-FD701C35EB18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1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FCB0-6CEB-CC45-AD2E-958D9FB6C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38E82-C7F0-9FE6-DB38-F68B23E98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36B5-0949-522D-A305-4D121865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56B10-50C3-47A1-909E-CDE4F21EF4AD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4DEFA-41C5-9B9B-947D-E612D6E7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256CE-934D-725D-CB7A-DA82ACDA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05777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DAA4-2920-CF50-163D-453DC197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E570-12DE-382F-D7C8-100BAFD12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3E70A-BDEC-0AFF-4A34-A24313CB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EE2C4-04C8-443D-BC6D-5B57B9AE714E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7255-1299-BBD3-C645-559C40C9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62AEE-B6C5-3EC4-52AC-242873DF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87319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769F-EFD2-62BC-7853-A4D04823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9C775-45DA-BA7E-FA5B-4D9DE11F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A2D68-9964-E80B-4C18-B37099AD6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4C25-B651-41CF-BC42-897C30C6244E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37FE3-993A-EC51-26B1-0412A025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4815C-050D-9E37-680A-5FF0214A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14761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76E8-CC63-A55F-E4A6-19E9ED24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91BB-3FB2-DA80-9486-49F4631E8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19AD2-7CB1-1610-4923-350006BC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9A4D5-E36A-A5DA-AE71-0AB97A2AB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A136A-4F98-447B-80BA-F5CB450383E8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E63D1-3289-C285-736C-92705AE50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C877E-4BD1-24E9-B439-593CF4AB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8464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B070-3A93-70AD-ACA2-7452FF1C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4B395-C3C2-F3B6-5C2A-B16F357B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2B9E7-657A-79CE-EDCE-2E7CBBDAF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8B49F-214A-C454-A14A-E103FBEC3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EA070D-522D-F9C5-DBA9-EB7A1EBB4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B19BB-D323-BE4E-4DE9-D43A81C99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5EA9-0E1E-47CF-82BE-7134673731C9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1E773-80A2-77CC-251A-B7C8F56D1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9E95C-C07D-4D3C-54F3-971F911F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26608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294DD-94CB-C94E-0305-E27BC1EC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D1E59-5767-0037-5A69-65F04F09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9A0ED-908F-45D8-967D-87195019CC09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F07F0-B43C-6ECA-A583-93F493E7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651D6-9C1E-7A66-05FB-93FFD6A4F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44184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83F49-59F0-950B-E81A-1E26E663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2F01D-4194-48A5-9073-1CC16B8B4564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7D4F5-534E-D3E5-7AC4-D61D11E7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356350"/>
            <a:ext cx="5029200" cy="365125"/>
          </a:xfrm>
        </p:spPr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ED2FF-E942-D239-E657-F10F2A35A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35528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3B30-DCDB-2E67-F209-F28B6434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4294-0841-44F0-FDB3-CC85AEA2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EA5B1-541A-2BBC-5E8C-7A1BAAF74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E3E2A-BB75-C3FA-06FC-982CDAD1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EA143-E5DE-4E29-A0BE-38E215A7F1AE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7A5D-5142-21B5-BC69-41950A193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6EBE9-6825-4102-0C7F-474A995C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82766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8A84-9B4A-16D9-ACC8-E7615732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13C50-9238-C699-C5E7-FA26E12F7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0F348-B8F0-D355-F7BB-BF38A40EB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15114-A83B-3CC1-DEDD-86B05E02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017B6-25FE-462F-BD62-BDDDDCFD043C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D9681-999A-FDEB-B9A7-95F86C00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8A49A-D2F7-1A9E-A1B7-A93C9C29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83894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73F5-0C21-E347-F8A5-1EDEF0A7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6B7F3-9D37-B7BE-44A7-6497C89F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7FAB3-D9C1-0ACE-AC01-6421218A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6C3F6-E1F4-4FEB-8C5B-3704173EAFC6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5090A-62E4-D9BC-0CE3-6D1EFDE1B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AF8F-0CE7-7050-F011-D20F5997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45135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9F5E4B-31DD-30F3-0BF7-4DB7E342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9F73D-5DC9-D686-59E7-896A3F1C1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DE8CA-D0C2-E24B-905C-FC485A6C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8179-9CA4-47EA-B425-1B09203BCD3A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8E803-BA97-3C70-2070-218BC901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B3044-F5ED-6580-6BFE-7EF011EB9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97794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9B06-D75B-37CF-0101-7E20AD04A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213CF-F559-D5A7-4C6D-74AB9C500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EDEC0-7CA5-526C-FDE5-C5F00037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30E2-9DCB-4E0C-899A-BF8DBF82F78E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C4667-A380-89CF-DBF8-CDA66354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DF29C-BEF8-CA15-672D-427C14D7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39394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07C8-D6E2-5490-6DBA-8F646214F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D7CA-67FC-2B1F-2626-8779BDF0E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C53A4-402B-9D8A-6E17-D747D3A0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BBA3-7341-4D44-AD51-48500BC2311E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7E5D8-B041-4B1E-D249-BC0F9AA5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5C5E5-EDF7-B72B-0690-D79DD8C3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422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98D0-EED2-E46D-5FB3-702BC081F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F4792-E6BE-63A8-A5ED-E9B174BD0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99476-3831-5FC2-839C-AB4D767E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443A-6E22-44F3-91CE-3F9A2DC5B0F5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3708B-CDF9-868B-D7D5-FB23B9AD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1A438-C61E-47A2-53B6-B0E8AC12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546799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1EC7-5865-2EEB-FC4F-F831C8F4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9918-4D5F-142D-F172-8145FFED3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15458-99AB-DC3A-B358-81F911F1C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B8B27-9C27-3440-0F5B-4626FEDB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E94B-56D7-4ED5-9EF6-87296EA966C2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5785B-E11E-3009-A332-9FBA85CF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DC007-17FC-C337-D1FF-B238FE9DF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27817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5682-9047-92F1-EA6D-EA42EC07F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09F94-1D3E-093F-B666-227BE32CB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146A-95B1-D4FA-E393-42792D7A6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000B3-D274-8308-7465-9AC090AA09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BF522-3428-8E2D-8C72-544309917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C98F29-DFD1-4F8B-9585-6A24060F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6B091-987B-463A-9CA5-163315B4325E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B3BD9-DAC3-5573-E534-8D96F546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C4581D-4F89-57C8-B22E-37702911A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351423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8F87-33C6-D892-7E0B-5A04F6E2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BD15D-8493-58EA-F5A0-CFC59B660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DE74E-174F-443F-B16D-24FD468C88C4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D4D4A-9664-C230-828E-BE11A9527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5BCDC-4B56-475B-3BD6-46D6F0E6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1833759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B1ECF-78FE-916F-4473-2D007472A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335C6-F72A-4D50-8D8F-C192E8291602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B88B6-3B7A-5448-0A48-41BFDE77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CDE13-08FF-F456-F6A9-9201DCAC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867280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9BB7-8D19-FFDF-E640-6FB9BB1C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88961-561C-AD15-8F3D-C72239F4E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8C4CD-148C-3167-5A53-179A27CCA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6927-4BFA-18E1-4F9A-FCF0D2DC6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6159C-FE83-4380-AAC4-F77B50BD2A58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7F3E5-433C-E1CA-59C6-773628CC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0BF77-6C1D-6DEF-9CC5-89143E8F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71375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583E-B94B-4DB6-5DE8-2B967A82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D2FBEC-DE28-3910-0331-EE911130B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CD389-D0A5-B303-DFE5-8CC33B37F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BBB79-6D43-9C2D-D21F-E52FB1AB7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4736-F650-4CF7-BD4E-3DDA64EBEA19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E52ED-37B4-E6E8-DA0E-9FDBD8EA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AC037-A622-BDB5-7CA6-0892F91B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66503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054E-0D62-0592-78D0-4772E920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8FDAC-20F5-17D2-751F-4F8A8FBC2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F693-16FB-F5D5-BFC2-5D5CE7AD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6C93-405C-43BF-B0F0-638D9508C35A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62B72-132C-C2A4-4C23-F1B61642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37C56-BD1A-CE46-FC42-1506295A5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418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E7F96-EC48-DAEB-9B6B-88F2DB98B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E8EBA-1B71-34C7-5204-BCA38CA40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71F8F-FA43-32A4-1F23-CCBCEDF7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E8994-2F10-4502-B623-1369A27A5B26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91757-CA7C-78DF-2416-9D788890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DF12B-33A2-DB2B-8043-6B405BCBE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76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51793"/>
            <a:ext cx="10515600" cy="49151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A8F19-6D68-4AE6-B047-713DD022DD0F}" type="datetime1">
              <a:rPr lang="it-IT" altLang="zh-CN" smtClean="0"/>
              <a:t>15/04/2026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Collective Optimization for Cross Region AI Acceleration (COCA)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DA4BB"/>
                </a:solidFill>
              </a:defRPr>
            </a:lvl1pPr>
          </a:lstStyle>
          <a:p>
            <a:fld id="{5AFE0081-1ED4-41E0-88AB-D26DBE160EA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02B122-BE13-02CF-0AE6-3DED054CF94D}"/>
              </a:ext>
            </a:extLst>
          </p:cNvPr>
          <p:cNvCxnSpPr/>
          <p:nvPr userDrawn="1"/>
        </p:nvCxnSpPr>
        <p:spPr>
          <a:xfrm>
            <a:off x="838200" y="135179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B25CD1F-2EEC-A5C5-B207-6AE1A75702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4" r="11300"/>
          <a:stretch/>
        </p:blipFill>
        <p:spPr>
          <a:xfrm>
            <a:off x="10634134" y="18255"/>
            <a:ext cx="1557866" cy="111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4C241-5CE8-27FB-7573-267D78E1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FAA68-D942-4A75-2B1A-7BCED88A0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36293-E7ED-3513-F78C-440468FCB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2776C-CAFB-4A0A-9C44-A213601BB196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1BCB5-4A15-1807-C2F4-4199ABB9E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3B95F-DF87-0022-BCE5-A1017AA6F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27476-17BF-C344-813E-3FD0A10925D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540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0819A1-8F81-C4F4-B2B9-CB5F1C44E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A8954-3652-E8E6-9D3D-8FE75FF1D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B5A1-E80A-AB6F-B7FF-B0D3A5693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FE196-FE37-4D8C-8F01-59150EC10462}" type="datetime1">
              <a:rPr lang="it-IT" altLang="zh-CN" smtClean="0"/>
              <a:t>15/04/2026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3101-C2EA-141B-EDC3-1741ED9CF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Collective Optimization for Cross Region AI Acceleration (COCA)</a:t>
            </a:r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6F638-1B1A-A302-E9C0-A0D8DCF04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FE74D-A242-2A42-8CB3-538A816AF9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5797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082D-D21B-E614-BAEC-212528051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8CA87B-F529-3DD6-E9B9-DC90ED99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940" y="280733"/>
            <a:ext cx="9328660" cy="10083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500" b="1" dirty="0"/>
              <a:t>From TE-CCL to Graph Neural Policy Learning for Adaptive Collective Communication</a:t>
            </a:r>
            <a:endParaRPr lang="it-IT" sz="3500" b="1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DB3F60E-3CFA-4B46-D183-CD19862D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27476-17BF-C344-813E-3FD0A10925D2}" type="slidenum">
              <a:rPr lang="en-IT" smtClean="0"/>
              <a:t>1</a:t>
            </a:fld>
            <a:endParaRPr lang="en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37BD6-CC14-87F8-AEEE-A3C87DAAC348}"/>
              </a:ext>
            </a:extLst>
          </p:cNvPr>
          <p:cNvSpPr txBox="1"/>
          <p:nvPr/>
        </p:nvSpPr>
        <p:spPr>
          <a:xfrm rot="10800000" flipV="1">
            <a:off x="622726" y="2148195"/>
            <a:ext cx="111110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Problem:</a:t>
            </a:r>
            <a:r>
              <a:rPr lang="en-US" dirty="0"/>
              <a:t> Optimizing collective communication over heterogeneous accelerator topologies — especially in multi-chassis or cross-region-like settings— is computationally</a:t>
            </a:r>
            <a:r>
              <a:rPr lang="tr-TR" dirty="0"/>
              <a:t> expensive.</a:t>
            </a:r>
          </a:p>
          <a:p>
            <a:endParaRPr lang="tr-TR" dirty="0"/>
          </a:p>
          <a:p>
            <a:endParaRPr lang="tr-TR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/>
              <a:t>Current solution: </a:t>
            </a:r>
            <a:r>
              <a:rPr lang="tr-TR" altLang="tr-TR" dirty="0"/>
              <a:t>TE-CCL uses MILP optimization to generate high-quality schedules, but solving can be computationally expensive.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tr-TR" altLang="tr-TR" dirty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tr-TR" altLang="tr-TR" dirty="0"/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altLang="tr-TR" b="1" dirty="0"/>
              <a:t>Our goal: </a:t>
            </a:r>
            <a:r>
              <a:rPr lang="tr-TR" altLang="tr-TR" dirty="0"/>
              <a:t>Learn this optimization behavior with graph neural networks in  a using a</a:t>
            </a:r>
            <a:r>
              <a:rPr lang="en-US" dirty="0"/>
              <a:t> "Teacher-Student" framework</a:t>
            </a:r>
            <a:endParaRPr lang="tr-TR" altLang="tr-TR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r-TR" altLang="tr-TR" dirty="0"/>
              <a:t>, so that high-quality communication decisions can be produced much faster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14821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BF2072-E8BE-74E6-D8DC-C0A817599E33}"/>
              </a:ext>
            </a:extLst>
          </p:cNvPr>
          <p:cNvSpPr txBox="1"/>
          <p:nvPr/>
        </p:nvSpPr>
        <p:spPr>
          <a:xfrm>
            <a:off x="3940350" y="1869159"/>
            <a:ext cx="45304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b="1" dirty="0"/>
              <a:t>Step 1 — Teacher data extraction</a:t>
            </a:r>
            <a:endParaRPr lang="tr-TR" dirty="0"/>
          </a:p>
          <a:p>
            <a:r>
              <a:rPr lang="tr-TR" dirty="0"/>
              <a:t>TE-CCL outputs are parsed into: </a:t>
            </a:r>
          </a:p>
          <a:p>
            <a:pPr lvl="1"/>
            <a:r>
              <a:rPr lang="tr-TR" dirty="0"/>
              <a:t>topology graphs </a:t>
            </a:r>
          </a:p>
          <a:p>
            <a:pPr lvl="1"/>
            <a:r>
              <a:rPr lang="tr-TR" dirty="0"/>
              <a:t>policy matrices </a:t>
            </a:r>
          </a:p>
          <a:p>
            <a:pPr lvl="1"/>
            <a:r>
              <a:rPr lang="tr-TR" dirty="0"/>
              <a:t>collective finish times </a:t>
            </a:r>
          </a:p>
          <a:p>
            <a:r>
              <a:rPr lang="tr-TR" b="1" dirty="0"/>
              <a:t>Step 2 — Agent</a:t>
            </a:r>
            <a:endParaRPr lang="tr-TR" dirty="0"/>
          </a:p>
          <a:p>
            <a:r>
              <a:rPr lang="tr-TR" dirty="0"/>
              <a:t>Input: topology graph </a:t>
            </a:r>
          </a:p>
          <a:p>
            <a:r>
              <a:rPr lang="tr-TR" dirty="0"/>
              <a:t>Output: edge-level communication policy </a:t>
            </a:r>
          </a:p>
          <a:p>
            <a:r>
              <a:rPr lang="tr-TR" b="1" dirty="0"/>
              <a:t>Step 3 — SimNet</a:t>
            </a:r>
            <a:endParaRPr lang="tr-TR" dirty="0"/>
          </a:p>
          <a:p>
            <a:r>
              <a:rPr lang="tr-TR" dirty="0"/>
              <a:t>Input: topology graph + policy </a:t>
            </a:r>
          </a:p>
          <a:p>
            <a:r>
              <a:rPr lang="tr-TR" dirty="0"/>
              <a:t>Output: predicted collective completion time </a:t>
            </a:r>
          </a:p>
          <a:p>
            <a:r>
              <a:rPr lang="tr-TR" b="1" dirty="0"/>
              <a:t>End-to-end goal</a:t>
            </a:r>
            <a:br>
              <a:rPr lang="tr-TR" dirty="0"/>
            </a:br>
            <a:r>
              <a:rPr lang="tr-TR" dirty="0"/>
              <a:t>Topology → Agent → Policy → SimNet → Time</a:t>
            </a:r>
          </a:p>
          <a:p>
            <a:endParaRPr lang="tr-T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6CEEA-E7ED-893F-95F8-A879A1ECACE9}"/>
              </a:ext>
            </a:extLst>
          </p:cNvPr>
          <p:cNvSpPr txBox="1"/>
          <p:nvPr/>
        </p:nvSpPr>
        <p:spPr>
          <a:xfrm>
            <a:off x="877579" y="699608"/>
            <a:ext cx="336444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3500" b="1" dirty="0">
                <a:latin typeface="+mj-lt"/>
              </a:rPr>
              <a:t>Pipeline Overview</a:t>
            </a:r>
            <a:endParaRPr lang="tr-TR" sz="3500" dirty="0">
              <a:latin typeface="+mj-lt"/>
            </a:endParaRPr>
          </a:p>
          <a:p>
            <a:endParaRPr lang="tr-TR" sz="3500" dirty="0"/>
          </a:p>
        </p:txBody>
      </p:sp>
    </p:spTree>
    <p:extLst>
      <p:ext uri="{BB962C8B-B14F-4D97-AF65-F5344CB8AC3E}">
        <p14:creationId xmlns:p14="http://schemas.microsoft.com/office/powerpoint/2010/main" val="148324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DFFC-6AB2-63BA-1F5A-F24C4B37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393"/>
            <a:ext cx="10515600" cy="1012425"/>
          </a:xfrm>
        </p:spPr>
        <p:txBody>
          <a:bodyPr/>
          <a:lstStyle/>
          <a:p>
            <a:r>
              <a:rPr lang="en-US" sz="3500" b="1" dirty="0"/>
              <a:t>TE-CCL Repository as Teacher and Data Source</a:t>
            </a:r>
            <a:endParaRPr lang="tr-TR" sz="35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C09CE-81F4-A321-7218-B43E5499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3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D5B200B0-FBE2-CBF1-B3DB-0E4BA0737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867" y="1487248"/>
            <a:ext cx="49836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dirty="0"/>
              <a:t>2</a:t>
            </a:r>
            <a:r>
              <a:rPr lang="en-US" dirty="0"/>
              <a:t> components of the TE-CCL repository</a:t>
            </a:r>
            <a:r>
              <a:rPr lang="tr-TR" dirty="0"/>
              <a:t> were used: </a:t>
            </a:r>
            <a:endParaRPr kumimoji="0" lang="tr-TR" altLang="tr-T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91F858-B1DC-4152-2F47-343D1D695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7" y="2559257"/>
            <a:ext cx="2658920" cy="2981213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51AB42-DA74-B74F-DFE0-9F3F9F81AD17}"/>
              </a:ext>
            </a:extLst>
          </p:cNvPr>
          <p:cNvCxnSpPr>
            <a:cxnSpLocks/>
          </p:cNvCxnSpPr>
          <p:nvPr/>
        </p:nvCxnSpPr>
        <p:spPr>
          <a:xfrm flipH="1">
            <a:off x="1947168" y="4738687"/>
            <a:ext cx="248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D274CB-1841-B41C-F140-7545BAF3A2C7}"/>
              </a:ext>
            </a:extLst>
          </p:cNvPr>
          <p:cNvCxnSpPr>
            <a:cxnSpLocks/>
          </p:cNvCxnSpPr>
          <p:nvPr/>
        </p:nvCxnSpPr>
        <p:spPr>
          <a:xfrm flipH="1">
            <a:off x="1870968" y="5181600"/>
            <a:ext cx="248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D34CF3-13A9-14FA-32FD-FE958BD09988}"/>
              </a:ext>
            </a:extLst>
          </p:cNvPr>
          <p:cNvSpPr txBox="1"/>
          <p:nvPr/>
        </p:nvSpPr>
        <p:spPr>
          <a:xfrm>
            <a:off x="922867" y="1884753"/>
            <a:ext cx="4994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altLang="tr-TR" b="1" dirty="0"/>
              <a:t>1. Topologies</a:t>
            </a:r>
            <a:r>
              <a:rPr lang="tr-TR" altLang="tr-TR" dirty="0"/>
              <a:t> : To construct communication graphs </a:t>
            </a:r>
          </a:p>
          <a:p>
            <a:endParaRPr lang="tr-T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174E8E-3365-3BE7-5B40-AA9A89CFACD0}"/>
              </a:ext>
            </a:extLst>
          </p:cNvPr>
          <p:cNvSpPr txBox="1"/>
          <p:nvPr/>
        </p:nvSpPr>
        <p:spPr>
          <a:xfrm>
            <a:off x="4633383" y="2531084"/>
            <a:ext cx="66357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NDv2 and DGX2 were the two topology families used in the final dataset, since they </a:t>
            </a:r>
            <a:r>
              <a:rPr lang="tr-TR" dirty="0"/>
              <a:t>are experiments with them provided with the </a:t>
            </a:r>
            <a:r>
              <a:rPr lang="en-US" dirty="0"/>
              <a:t>TE-CCL expert</a:t>
            </a:r>
            <a:r>
              <a:rPr lang="tr-TR" dirty="0"/>
              <a:t> outputs.</a:t>
            </a:r>
            <a:r>
              <a:rPr lang="en-US" dirty="0"/>
              <a:t> </a:t>
            </a:r>
            <a:endParaRPr lang="tr-TR" dirty="0"/>
          </a:p>
          <a:p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Topologies were defined with :</a:t>
            </a:r>
          </a:p>
          <a:p>
            <a:pPr lvl="1"/>
            <a:r>
              <a:rPr lang="tr-TR" b="1" dirty="0"/>
              <a:t>Capacity</a:t>
            </a:r>
            <a:r>
              <a:rPr lang="tr-TR" dirty="0"/>
              <a:t> → link bandwidth </a:t>
            </a:r>
          </a:p>
          <a:p>
            <a:pPr lvl="1"/>
            <a:r>
              <a:rPr lang="tr-TR" b="1" dirty="0"/>
              <a:t>Alpha</a:t>
            </a:r>
            <a:r>
              <a:rPr lang="tr-TR" dirty="0"/>
              <a:t> → link latency </a:t>
            </a:r>
          </a:p>
          <a:p>
            <a:pPr lvl="1"/>
            <a:r>
              <a:rPr lang="tr-TR" b="1" dirty="0"/>
              <a:t>Switch indices</a:t>
            </a:r>
            <a:r>
              <a:rPr lang="tr-TR" dirty="0"/>
              <a:t> → switch node identities </a:t>
            </a:r>
          </a:p>
          <a:p>
            <a:pPr lvl="1"/>
            <a:r>
              <a:rPr lang="tr-TR" b="1" dirty="0"/>
              <a:t>Chassis</a:t>
            </a:r>
            <a:r>
              <a:rPr lang="tr-TR" dirty="0"/>
              <a:t> → multi-chassis structure </a:t>
            </a:r>
          </a:p>
          <a:p>
            <a:pPr lvl="1"/>
            <a:r>
              <a:rPr lang="tr-TR" b="1" dirty="0"/>
              <a:t>Nodes per chassis</a:t>
            </a:r>
            <a:r>
              <a:rPr lang="tr-TR" dirty="0"/>
              <a:t> → local topology size</a:t>
            </a:r>
          </a:p>
          <a:p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0581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412C-7119-8EDF-A629-0F4883AAF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500" b="1" dirty="0"/>
              <a:t>Topologies Used in Final Dataset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7B1463-C865-54A4-5C63-BBB10B44D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766"/>
          <a:stretch>
            <a:fillRect/>
          </a:stretch>
        </p:blipFill>
        <p:spPr>
          <a:xfrm>
            <a:off x="399094" y="1449161"/>
            <a:ext cx="11727639" cy="448173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79AA-FBA1-5315-B385-29E4AF51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52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C1F9-6F71-26B4-2CE6-B288BEAFE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370843"/>
            <a:ext cx="10515600" cy="4915191"/>
          </a:xfrm>
        </p:spPr>
        <p:txBody>
          <a:bodyPr/>
          <a:lstStyle/>
          <a:p>
            <a:pPr marL="0" indent="0">
              <a:buNone/>
            </a:pPr>
            <a:r>
              <a:rPr lang="tr-TR" sz="1800" b="1" dirty="0"/>
              <a:t>2. Experiments with </a:t>
            </a:r>
            <a:r>
              <a:rPr lang="en-US" sz="1800" b="1" dirty="0"/>
              <a:t>Provided outputs</a:t>
            </a:r>
            <a:r>
              <a:rPr lang="tr-TR" sz="1800" b="1" dirty="0"/>
              <a:t> : </a:t>
            </a:r>
            <a:r>
              <a:rPr lang="en-US" sz="1800" dirty="0"/>
              <a:t>To extract expert schedules and collective completion times as supervision targets</a:t>
            </a:r>
          </a:p>
          <a:p>
            <a:pPr marL="0" indent="0">
              <a:buNone/>
            </a:pPr>
            <a:r>
              <a:rPr lang="tr-TR" sz="18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80E3D-36B1-8538-50C8-B0DBC5BF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790DC93-1E5C-023F-63DA-E3F3B9FCE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520700"/>
            <a:ext cx="10560050" cy="403225"/>
          </a:xfrm>
        </p:spPr>
        <p:txBody>
          <a:bodyPr/>
          <a:lstStyle/>
          <a:p>
            <a:r>
              <a:rPr lang="en-US" sz="3500" b="1" dirty="0"/>
              <a:t>TE-CCL Repository as Teacher and Data Source</a:t>
            </a:r>
            <a:endParaRPr lang="tr-TR" sz="35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2BCD-E99F-F03F-D5BA-309F0840E09B}"/>
              </a:ext>
            </a:extLst>
          </p:cNvPr>
          <p:cNvSpPr txBox="1"/>
          <p:nvPr/>
        </p:nvSpPr>
        <p:spPr>
          <a:xfrm>
            <a:off x="876300" y="1952106"/>
            <a:ext cx="5810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output file represents a combination of </a:t>
            </a:r>
            <a:r>
              <a:rPr lang="tr-TR" dirty="0"/>
              <a:t>configurations:</a:t>
            </a:r>
          </a:p>
          <a:p>
            <a:endParaRPr lang="tr-T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8B2442-06E6-6BB3-5086-627BF57EF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858383"/>
              </p:ext>
            </p:extLst>
          </p:nvPr>
        </p:nvGraphicFramePr>
        <p:xfrm>
          <a:off x="4080042" y="2926837"/>
          <a:ext cx="6775418" cy="2560320"/>
        </p:xfrm>
        <a:graphic>
          <a:graphicData uri="http://schemas.openxmlformats.org/drawingml/2006/table">
            <a:tbl>
              <a:tblPr/>
              <a:tblGrid>
                <a:gridCol w="3387709">
                  <a:extLst>
                    <a:ext uri="{9D8B030D-6E8A-4147-A177-3AD203B41FA5}">
                      <a16:colId xmlns:a16="http://schemas.microsoft.com/office/drawing/2014/main" val="2134228587"/>
                    </a:ext>
                  </a:extLst>
                </a:gridCol>
                <a:gridCol w="3387709">
                  <a:extLst>
                    <a:ext uri="{9D8B030D-6E8A-4147-A177-3AD203B41FA5}">
                      <a16:colId xmlns:a16="http://schemas.microsoft.com/office/drawing/2014/main" val="1857754365"/>
                    </a:ext>
                  </a:extLst>
                </a:gridCol>
              </a:tblGrid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b="1" dirty="0"/>
                        <a:t>Final 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777748"/>
                  </a:ext>
                </a:extLst>
              </a:tr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Topologies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NDv2, DGX2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560617"/>
                  </a:ext>
                </a:extLst>
              </a:tr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Chassis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2, 4 (4-chassis mainly from NDv2)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00206"/>
                  </a:ext>
                </a:extLst>
              </a:tr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Collectives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/>
                        <a:t>AllGather, AlltoAll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538111"/>
                  </a:ext>
                </a:extLst>
              </a:tr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Modes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Fast, Slow, Fast_Early_Stop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080618"/>
                  </a:ext>
                </a:extLst>
              </a:tr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Message sizes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1KB – 1GB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348587"/>
                  </a:ext>
                </a:extLst>
              </a:tr>
              <a:tr h="2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Total samples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/>
                        <a:t>154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2121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85983F5-BE8F-24B0-A1E2-261A08774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377725"/>
            <a:ext cx="2260014" cy="369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7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E96D-4FA9-E3CF-527B-7FCB7C15D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500" b="1" dirty="0"/>
              <a:t>Graph Construction from Topology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A1B9C-FE48-522C-7BEB-ADD7925CA2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0377"/>
                <a:ext cx="10515600" cy="49151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tr-TR" sz="1800" dirty="0"/>
                  <a:t>Each topology is converted into a directed graph :</a:t>
                </a:r>
              </a:p>
              <a:p>
                <a:pPr marL="0" indent="0">
                  <a:buNone/>
                </a:pPr>
                <a:endParaRPr lang="tr-TR" sz="1800" dirty="0"/>
              </a:p>
              <a:p>
                <a:pPr marL="0" indent="0">
                  <a:buNone/>
                </a:pPr>
                <a:r>
                  <a:rPr lang="tr-TR" sz="1800" dirty="0"/>
                  <a:t>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8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1800" b="1" i="1" dirty="0">
                            <a:latin typeface="Cambria Math" panose="02040503050406030204" pitchFamily="18" charset="0"/>
                          </a:rPr>
                          <m:t>𝒆𝒅𝒈𝒆</m:t>
                        </m:r>
                      </m:e>
                      <m:sub>
                        <m:r>
                          <a:rPr lang="tr-TR" sz="1800" b="1" i="1" dirty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tr-TR" sz="1800" b="1" dirty="0"/>
                  <a:t> </a:t>
                </a:r>
                <a14:m>
                  <m:oMath xmlns:m="http://schemas.openxmlformats.org/officeDocument/2006/math">
                    <m:r>
                      <a:rPr lang="ar-AE" sz="1800" b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ar-AE" sz="1800" b="1" i="1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tr-TR" sz="1800" b="1" dirty="0"/>
                  <a:t> </a:t>
                </a:r>
                <a:r>
                  <a:rPr lang="tr-TR" sz="1800" dirty="0"/>
                  <a:t>exists if,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tr-TR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1800" b="1" i="1">
                                  <a:latin typeface="Cambria Math" panose="02040503050406030204" pitchFamily="18" charset="0"/>
                                </a:rPr>
                                <m:t>𝒄𝒂𝒑𝒂𝒄𝒊𝒕𝒚</m:t>
                              </m:r>
                            </m:e>
                          </m:d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tr-TR" sz="1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tr-TR" sz="1800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e>
                          </m:d>
                        </m:sub>
                      </m:sSub>
                      <m:r>
                        <a:rPr lang="tr-TR" sz="1800" b="1" i="1">
                          <a:latin typeface="Cambria Math" panose="02040503050406030204" pitchFamily="18" charset="0"/>
                        </a:rPr>
                        <m:t>&gt; </m:t>
                      </m:r>
                      <m:r>
                        <a:rPr lang="tr-TR" sz="18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tr-TR" sz="1800" b="1" dirty="0"/>
              </a:p>
              <a:p>
                <a:pPr marL="0" indent="0">
                  <a:buNone/>
                </a:pPr>
                <a:r>
                  <a:rPr lang="tr-TR" sz="1800" dirty="0"/>
                  <a:t>Each edge is represented by: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b="1" i="1" dirty="0" smtClean="0">
                              <a:latin typeface="Cambria Math" panose="02040503050406030204" pitchFamily="18" charset="0"/>
                            </a:rPr>
                            <m:t>𝒆𝒅𝒈𝒆</m:t>
                          </m:r>
                        </m:e>
                        <m:sub>
                          <m:r>
                            <a:rPr lang="tr-TR" sz="1800" b="1" i="1" dirty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sz="1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tr-TR" sz="1800" b="1" i="0" dirty="0">
                                  <a:latin typeface="Cambria Math" panose="02040503050406030204" pitchFamily="18" charset="0"/>
                                </a:rPr>
                                <m:t>capacity</m:t>
                              </m:r>
                            </m:e>
                            <m:sub>
                              <m: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tr-TR" sz="18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tr-TR" sz="1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tr-TR" sz="18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lit/>
                            </m:rPr>
                            <a:rPr lang="tr-TR" sz="1800" b="1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tr-TR" sz="1800" b="1" i="0" dirty="0">
                                  <a:latin typeface="Cambria Math" panose="02040503050406030204" pitchFamily="18" charset="0"/>
                                </a:rPr>
                                <m:t>switch</m:t>
                              </m:r>
                            </m:e>
                            <m:sub>
                              <m:r>
                                <a:rPr lang="tr-TR" sz="1800" b="1" i="1" dirty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tr-TR" sz="18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tr-TR" sz="1800" dirty="0"/>
                  <a:t>where,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1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1800" b="1" i="1" dirty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tr-TR" sz="1800" b="1" i="1" dirty="0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tr-TR" sz="1800" b="1" i="0" dirty="0">
                          <a:latin typeface="Cambria Math" panose="02040503050406030204" pitchFamily="18" charset="0"/>
                        </a:rPr>
                        <m:t>link</m:t>
                      </m:r>
                      <m:r>
                        <m:rPr>
                          <m:nor/>
                        </m:rPr>
                        <a:rPr lang="tr-TR" sz="1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1800" b="1" i="0" dirty="0">
                          <a:latin typeface="Cambria Math" panose="02040503050406030204" pitchFamily="18" charset="0"/>
                        </a:rPr>
                        <m:t>latency</m:t>
                      </m:r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lang="tr-TR" sz="1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tr-TR" sz="1800" b="1" i="0" dirty="0">
                              <a:latin typeface="Cambria Math" panose="02040503050406030204" pitchFamily="18" charset="0"/>
                            </a:rPr>
                            <m:t>switch</m:t>
                          </m:r>
                        </m:e>
                        <m:sub>
                          <m:r>
                            <a:rPr lang="tr-TR" sz="1800" b="1" i="1" dirty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lit/>
                        </m:rPr>
                        <a:rPr lang="tr-TR" sz="1800" b="1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m:rPr>
                          <m:lit/>
                        </m:rPr>
                        <a:rPr lang="tr-TR" sz="1800" b="1" i="1" dirty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tr-TR" sz="1800" b="1" i="1" dirty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tr-TR" sz="1800" b="1" i="0" dirty="0">
                          <a:latin typeface="Cambria Math" panose="02040503050406030204" pitchFamily="18" charset="0"/>
                        </a:rPr>
                        <m:t>switch</m:t>
                      </m:r>
                      <m:r>
                        <m:rPr>
                          <m:nor/>
                        </m:rPr>
                        <a:rPr lang="tr-TR" sz="18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1800" b="1" i="0" dirty="0">
                          <a:latin typeface="Cambria Math" panose="02040503050406030204" pitchFamily="18" charset="0"/>
                        </a:rPr>
                        <m:t>involvement</m:t>
                      </m:r>
                    </m:oMath>
                  </m:oMathPara>
                </a14:m>
                <a:endParaRPr lang="tr-TR" sz="18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tr-TR" sz="18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So, the graph is fully defined by:</a:t>
                </a:r>
              </a:p>
              <a:p>
                <a:r>
                  <a:rPr lang="en-US" sz="1800" dirty="0"/>
                  <a:t>nodes (GPUs and switches) </a:t>
                </a:r>
                <a:r>
                  <a:rPr lang="tr-TR" sz="1800" dirty="0"/>
                  <a:t> </a:t>
                </a:r>
              </a:p>
              <a:p>
                <a:r>
                  <a:rPr lang="en-US" sz="1800" dirty="0"/>
                  <a:t>edges (communication links) </a:t>
                </a:r>
                <a:endParaRPr lang="tr-TR" sz="1800" dirty="0"/>
              </a:p>
              <a:p>
                <a:r>
                  <a:rPr lang="en-US" sz="1800" dirty="0"/>
                  <a:t>edge </a:t>
                </a:r>
                <a:r>
                  <a:rPr lang="tr-TR" sz="1800" dirty="0"/>
                  <a:t>attributes</a:t>
                </a:r>
                <a:r>
                  <a:rPr lang="en-US" sz="1800" dirty="0"/>
                  <a:t> (bandwidth, latency, switch indicator) </a:t>
                </a:r>
              </a:p>
              <a:p>
                <a:pPr marL="0" indent="0">
                  <a:buNone/>
                </a:pPr>
                <a:endParaRPr lang="tr-TR" sz="1800" dirty="0"/>
              </a:p>
              <a:p>
                <a:pPr marL="0" indent="0">
                  <a:buNone/>
                </a:pPr>
                <a:endParaRPr lang="ar-AE" sz="1800" dirty="0"/>
              </a:p>
              <a:p>
                <a:endParaRPr lang="tr-TR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3A1B9C-FE48-522C-7BEB-ADD7925CA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0377"/>
                <a:ext cx="10515600" cy="4915191"/>
              </a:xfrm>
              <a:blipFill>
                <a:blip r:embed="rId2"/>
                <a:stretch>
                  <a:fillRect l="-522" t="-111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2B3B2-9216-A067-3991-20B60899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9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507C-721E-F5D9-9232-68CCEB2A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b="1" dirty="0"/>
              <a:t>Policy Matrix Extraction from TE-CCL Flows</a:t>
            </a:r>
            <a:endParaRPr lang="tr-TR" sz="35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3F2A2-751C-F832-514B-38AAB872C6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1697"/>
                <a:ext cx="10515600" cy="491519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>
                    <a:latin typeface="Calibri "/>
                  </a:rPr>
                  <a:t>Each TE-CCL output provides a set of communication flows of the form:</a:t>
                </a:r>
                <a:endParaRPr lang="tr-TR" sz="2000" dirty="0">
                  <a:latin typeface="Calibri "/>
                </a:endParaRPr>
              </a:p>
              <a:p>
                <a:pPr marL="0" indent="0">
                  <a:buNone/>
                </a:pPr>
                <a:endParaRPr lang="tr-TR" sz="2000" dirty="0">
                  <a:latin typeface="Calibri 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Chunk</m:t>
                      </m:r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 </m:t>
                      </m:r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traveled</m:t>
                      </m:r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over</m:t>
                      </m:r>
                      <m:r>
                        <m:rPr>
                          <m:nor/>
                        </m:rPr>
                        <a:rPr lang="tr-TR" sz="2000" b="1" i="0" dirty="0" smtClean="0">
                          <a:latin typeface="Calibri "/>
                        </a:rPr>
                        <m:t> </m:t>
                      </m:r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tr-TR" sz="2000" b="1" i="1" dirty="0">
                  <a:latin typeface="Calibri "/>
                </a:endParaRPr>
              </a:p>
              <a:p>
                <a:pPr marL="0" indent="0">
                  <a:buNone/>
                </a:pPr>
                <a:endParaRPr lang="tr-TR" sz="2000" b="1" i="1" dirty="0">
                  <a:latin typeface="Calibri "/>
                </a:endParaRPr>
              </a:p>
              <a:p>
                <a:pPr marL="0" indent="0">
                  <a:buNone/>
                </a:pPr>
                <a:r>
                  <a:rPr lang="tr-TR" sz="2000" dirty="0">
                    <a:latin typeface="Calibri "/>
                  </a:rPr>
                  <a:t>The policy matrix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lang="tr-TR" sz="2000" dirty="0">
                    <a:latin typeface="Calibri "/>
                  </a:rPr>
                  <a:t>constructed as : </a:t>
                </a:r>
              </a:p>
              <a:p>
                <a:pPr marL="0" indent="0">
                  <a:buNone/>
                </a:pPr>
                <a:endParaRPr lang="tr-TR" sz="2000" dirty="0">
                  <a:latin typeface="Calibri 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</m:rPr>
                            <a:rPr lang="tr-TR" sz="2000" b="1" i="0" dirty="0" smtClean="0">
                              <a:latin typeface="Cambria Math" panose="02040503050406030204" pitchFamily="18" charset="0"/>
                            </a:rPr>
                            <m:t>flows</m:t>
                          </m:r>
                        </m:sub>
                        <m:sup/>
                        <m:e>
                          <m: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nary>
                      <m:r>
                        <m:rPr>
                          <m:lit/>
                        </m:rPr>
                        <a:rPr lang="tr-TR" sz="2000" b="1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tr-TR" sz="2000" b="1" i="0" dirty="0">
                          <a:latin typeface="Cambria Math" panose="02040503050406030204" pitchFamily="18" charset="0"/>
                        </a:rPr>
                        <m:t>edge</m:t>
                      </m:r>
                      <m:r>
                        <m:rPr>
                          <m:nor/>
                        </m:rPr>
                        <a:rPr lang="tr-TR" sz="20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sz="2000" b="1" i="1" dirty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tr-TR" sz="2000" b="1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tr-TR" sz="2000" b="1" i="1" dirty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m:rPr>
                          <m:nor/>
                        </m:rPr>
                        <a:rPr lang="tr-TR" sz="20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000" b="1" i="0" dirty="0"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tr-TR" sz="2000" b="1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2000" b="1" i="0" dirty="0">
                          <a:latin typeface="Cambria Math" panose="02040503050406030204" pitchFamily="18" charset="0"/>
                        </a:rPr>
                        <m:t>used</m:t>
                      </m:r>
                      <m:r>
                        <m:rPr>
                          <m:lit/>
                        </m:rPr>
                        <a:rPr lang="tr-TR" sz="2000" b="1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tr-TR" sz="20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tr-TR" sz="2000" dirty="0">
                    <a:latin typeface="Calibri "/>
                  </a:rPr>
                  <a:t>Then normalized,</a:t>
                </a:r>
              </a:p>
              <a:p>
                <a:pPr marL="0" indent="0">
                  <a:buNone/>
                </a:pPr>
                <a:endParaRPr lang="tr-TR" sz="2000" dirty="0">
                  <a:latin typeface="Calibri 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acc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tr-TR" sz="20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tr-TR" sz="2000" b="0" i="0" dirty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tr-TR" sz="2000" b="1" i="1" dirty="0" smtClean="0">
                                      <a:latin typeface="Cambria Math" panose="02040503050406030204" pitchFamily="18" charset="0"/>
                                    </a:rPr>
                                    <m:t>𝒂𝒃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tr-TR" sz="2000" b="1" i="1" dirty="0" smtClean="0">
                          <a:latin typeface="Cambria Math" panose="02040503050406030204" pitchFamily="18" charset="0"/>
                        </a:rPr>
                        <m:t>                             </m:t>
                      </m:r>
                      <m:acc>
                        <m:accPr>
                          <m:chr m:val="̂"/>
                          <m:ctrlPr>
                            <a:rPr lang="tr-TR" sz="20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tr-TR" sz="20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000" b="1" i="1" dirty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tr-TR" sz="2000" b="1" i="1" dirty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acc>
                      <m:r>
                        <a:rPr lang="tr-TR" sz="2000" b="1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tr-TR" sz="20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000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tr-TR" sz="2000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tr-TR" sz="20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tr-TR" sz="2000" dirty="0">
                  <a:latin typeface="Calibri 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B3F2A2-751C-F832-514B-38AAB872C6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1697"/>
                <a:ext cx="10515600" cy="4915191"/>
              </a:xfrm>
              <a:blipFill>
                <a:blip r:embed="rId2"/>
                <a:stretch>
                  <a:fillRect l="-638" t="-124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EF1F2-D2D9-629F-D0A1-35986EBF4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67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4CDD5-886B-7B94-CBC0-416E0379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30" y="31424"/>
            <a:ext cx="10515600" cy="1325563"/>
          </a:xfrm>
        </p:spPr>
        <p:txBody>
          <a:bodyPr/>
          <a:lstStyle/>
          <a:p>
            <a:r>
              <a:rPr lang="tr-TR" sz="3500" b="1" dirty="0"/>
              <a:t>The Agent GNN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E0AA-3929-9964-94E1-9DD1B9CC6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3942" y="5321532"/>
            <a:ext cx="8792150" cy="909113"/>
          </a:xfrm>
        </p:spPr>
        <p:txBody>
          <a:bodyPr/>
          <a:lstStyle/>
          <a:p>
            <a:pPr marL="0" indent="0">
              <a:buNone/>
            </a:pPr>
            <a:r>
              <a:rPr lang="tr-TR" sz="1800" dirty="0">
                <a:latin typeface="+mj-lt"/>
              </a:rPr>
              <a:t>GATv2 is preffered as an attention mechanism and it a</a:t>
            </a:r>
            <a:r>
              <a:rPr lang="en-US" sz="1800" dirty="0" err="1">
                <a:latin typeface="+mj-lt"/>
              </a:rPr>
              <a:t>llows</a:t>
            </a:r>
            <a:r>
              <a:rPr lang="en-US" sz="1800" dirty="0">
                <a:latin typeface="+mj-lt"/>
              </a:rPr>
              <a:t> the model to weight neighbors differently based on</a:t>
            </a:r>
            <a:r>
              <a:rPr lang="tr-TR" sz="1800" dirty="0">
                <a:latin typeface="+mj-lt"/>
              </a:rPr>
              <a:t> the varying edge attributes</a:t>
            </a:r>
            <a:r>
              <a:rPr lang="en-US" sz="1800" dirty="0">
                <a:latin typeface="+mj-lt"/>
              </a:rPr>
              <a:t>.</a:t>
            </a:r>
            <a:endParaRPr lang="tr-TR" altLang="tr-TR" sz="1800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CE8D8-9D8D-677D-531B-B3149F23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8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F02AFE-304F-C553-1BC6-CC061655E1D2}"/>
              </a:ext>
            </a:extLst>
          </p:cNvPr>
          <p:cNvSpPr/>
          <p:nvPr/>
        </p:nvSpPr>
        <p:spPr>
          <a:xfrm>
            <a:off x="4995320" y="1421944"/>
            <a:ext cx="1403954" cy="469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Input: Graph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B503D9-FFA2-10B3-2796-EF3B5D964063}"/>
              </a:ext>
            </a:extLst>
          </p:cNvPr>
          <p:cNvSpPr/>
          <p:nvPr/>
        </p:nvSpPr>
        <p:spPr>
          <a:xfrm>
            <a:off x="1287727" y="2113185"/>
            <a:ext cx="9255903" cy="5516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 layer GNN Encoder (GATv2)</a:t>
            </a:r>
            <a:b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1600" dirty="0">
                <a:solidFill>
                  <a:schemeClr val="tx1"/>
                </a:solidFill>
              </a:rPr>
              <a:t>The GNN encoder updates each node by looking at its neighbors and the quality of connections.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A4308D-7891-A605-1555-DB3FD7E888F5}"/>
              </a:ext>
            </a:extLst>
          </p:cNvPr>
          <p:cNvSpPr/>
          <p:nvPr/>
        </p:nvSpPr>
        <p:spPr>
          <a:xfrm>
            <a:off x="1287727" y="2876843"/>
            <a:ext cx="9304585" cy="5516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Node Embeddings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This produces node embeddings that capture the structure of the network</a:t>
            </a:r>
            <a:r>
              <a:rPr lang="tr-TR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BC1EBC-DCA1-61E9-628E-CE437EB6FC94}"/>
              </a:ext>
            </a:extLst>
          </p:cNvPr>
          <p:cNvSpPr/>
          <p:nvPr/>
        </p:nvSpPr>
        <p:spPr>
          <a:xfrm>
            <a:off x="1287727" y="3631398"/>
            <a:ext cx="9304585" cy="5516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Edge Scoring (MLP)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Then, for each edge, we combine the two endpoint embeddings and edge features to compute a score.</a:t>
            </a:r>
            <a:endParaRPr lang="tr-TR" sz="16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3A042B-A230-C87D-98AE-549B191FB935}"/>
              </a:ext>
            </a:extLst>
          </p:cNvPr>
          <p:cNvSpPr/>
          <p:nvPr/>
        </p:nvSpPr>
        <p:spPr>
          <a:xfrm>
            <a:off x="1287725" y="4415301"/>
            <a:ext cx="9304585" cy="5516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Output: Policy Matrix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Finally, we obtain a policy score for every communication link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tr-TR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230485-7BD9-BC72-8039-8BCB966D201F}"/>
              </a:ext>
            </a:extLst>
          </p:cNvPr>
          <p:cNvCxnSpPr>
            <a:cxnSpLocks/>
          </p:cNvCxnSpPr>
          <p:nvPr/>
        </p:nvCxnSpPr>
        <p:spPr>
          <a:xfrm>
            <a:off x="5703237" y="2690053"/>
            <a:ext cx="0" cy="1173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DF42C3-F336-A46C-7C29-CAC3FB729C86}"/>
              </a:ext>
            </a:extLst>
          </p:cNvPr>
          <p:cNvCxnSpPr>
            <a:cxnSpLocks/>
          </p:cNvCxnSpPr>
          <p:nvPr/>
        </p:nvCxnSpPr>
        <p:spPr>
          <a:xfrm>
            <a:off x="5694031" y="1913060"/>
            <a:ext cx="0" cy="1173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B35BC4-2A0B-8467-D600-44EF13291283}"/>
              </a:ext>
            </a:extLst>
          </p:cNvPr>
          <p:cNvCxnSpPr>
            <a:cxnSpLocks/>
          </p:cNvCxnSpPr>
          <p:nvPr/>
        </p:nvCxnSpPr>
        <p:spPr>
          <a:xfrm>
            <a:off x="5703237" y="4240497"/>
            <a:ext cx="0" cy="1173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85F6F2-7387-5FC2-F05F-92F6F44B6EC2}"/>
              </a:ext>
            </a:extLst>
          </p:cNvPr>
          <p:cNvCxnSpPr>
            <a:cxnSpLocks/>
          </p:cNvCxnSpPr>
          <p:nvPr/>
        </p:nvCxnSpPr>
        <p:spPr>
          <a:xfrm>
            <a:off x="5694030" y="3453711"/>
            <a:ext cx="0" cy="1173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82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25E5-8EA7-CF80-2796-1D6B11C7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500" b="1" dirty="0"/>
              <a:t>Agent Training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44B868-6D89-172F-4909-008969039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662" y="1439055"/>
            <a:ext cx="5975751" cy="34107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C912D-595A-70CD-7AAB-2305A4A6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0081-1ED4-41E0-88AB-D26DBE160EA6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995C7-8200-943F-0FBC-06E0AC821A06}"/>
              </a:ext>
            </a:extLst>
          </p:cNvPr>
          <p:cNvSpPr txBox="1"/>
          <p:nvPr/>
        </p:nvSpPr>
        <p:spPr>
          <a:xfrm>
            <a:off x="1077539" y="4849765"/>
            <a:ext cx="380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validation loss: 0.0237</a:t>
            </a:r>
            <a:endParaRPr lang="tr-TR" dirty="0"/>
          </a:p>
          <a:p>
            <a:r>
              <a:rPr lang="en-US" dirty="0"/>
              <a:t>Test loss: 0.0228</a:t>
            </a:r>
            <a:endParaRPr lang="tr-T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70542-D89B-74CD-DE71-BAD670C6AFE9}"/>
              </a:ext>
            </a:extLst>
          </p:cNvPr>
          <p:cNvSpPr txBox="1"/>
          <p:nvPr/>
        </p:nvSpPr>
        <p:spPr>
          <a:xfrm>
            <a:off x="7180188" y="1675378"/>
            <a:ext cx="373738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1600" dirty="0"/>
              <a:t>Early stopping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training and validation losses decrease consistently, indicating stable learning.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gap between them remains small, suggesting good generalization.</a:t>
            </a: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model </a:t>
            </a:r>
            <a:r>
              <a:rPr lang="tr-TR" sz="1600" dirty="0"/>
              <a:t>alone </a:t>
            </a:r>
            <a:r>
              <a:rPr lang="en-US" sz="1600" dirty="0"/>
              <a:t>successfully learns to approximate the expert communication policies.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9738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E4A3-5530-1466-CF5F-3F5BB0A7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500" b="1" dirty="0"/>
              <a:t>SimNet GNN: The Proxy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1228A-98BC-E576-77FE-7144730E9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3850" y="6369664"/>
            <a:ext cx="2743200" cy="365125"/>
          </a:xfrm>
        </p:spPr>
        <p:txBody>
          <a:bodyPr/>
          <a:lstStyle/>
          <a:p>
            <a:fld id="{5AFE0081-1ED4-41E0-88AB-D26DBE160EA6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CC6149B-43D8-71DC-5261-0A9C120C26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500" y="1618199"/>
            <a:ext cx="10655300" cy="123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Goal</a:t>
            </a:r>
            <a:r>
              <a:rPr lang="tr-TR" sz="1600" b="1" dirty="0"/>
              <a:t>: </a:t>
            </a:r>
            <a:r>
              <a:rPr lang="en-US" sz="1600" dirty="0"/>
              <a:t>Learn a </a:t>
            </a:r>
            <a:r>
              <a:rPr lang="en-US" sz="1600" b="1" dirty="0"/>
              <a:t>differentiable surrogate model</a:t>
            </a:r>
            <a:r>
              <a:rPr lang="en-US" sz="1600" dirty="0"/>
              <a:t> of collective communication time </a:t>
            </a:r>
            <a:r>
              <a:rPr lang="tr-TR" sz="1600" dirty="0"/>
              <a:t>and approximate </a:t>
            </a:r>
            <a:r>
              <a:rPr lang="en-US" sz="1600" dirty="0"/>
              <a:t>expensive simulator calls during optimization</a:t>
            </a:r>
            <a:r>
              <a:rPr lang="tr-TR" sz="1600" dirty="0"/>
              <a:t>.</a:t>
            </a:r>
            <a:endParaRPr lang="tr-TR" altLang="tr-TR" sz="1600" b="1" dirty="0"/>
          </a:p>
          <a:p>
            <a:endParaRPr lang="tr-TR" sz="1600" dirty="0"/>
          </a:p>
          <a:p>
            <a:endParaRPr lang="tr-TR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lowchart: Process 8">
                <a:extLst>
                  <a:ext uri="{FF2B5EF4-FFF2-40B4-BE49-F238E27FC236}">
                    <a16:creationId xmlns:a16="http://schemas.microsoft.com/office/drawing/2014/main" id="{9103517B-7275-5827-EA55-A0025E515F5F}"/>
                  </a:ext>
                </a:extLst>
              </p:cNvPr>
              <p:cNvSpPr/>
              <p:nvPr/>
            </p:nvSpPr>
            <p:spPr>
              <a:xfrm>
                <a:off x="5073650" y="2292351"/>
                <a:ext cx="5753100" cy="280035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1600" b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Key Idea: Residual Learning</a:t>
                </a: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Direct prediction of time is highly unstable due to scale differences. Instead problem</a:t>
                </a: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tr-TR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is </a:t>
                </a: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decompose</a:t>
                </a:r>
                <a:r>
                  <a:rPr lang="tr-TR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 </a:t>
                </a:r>
                <a:r>
                  <a:rPr lang="en-US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the into a baseline and a residual.</a:t>
                </a:r>
                <a:endParaRPr lang="tr-TR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tr-TR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16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Completion time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1600" b="0" i="0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baseline</m:t>
                    </m:r>
                    <m:r>
                      <a:rPr lang="tr-TR" sz="1600" i="1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ea typeface="Cambria Math" panose="02040503050406030204" pitchFamily="18" charset="0"/>
                      </a:rPr>
                      <m:t>×</m:t>
                    </m:r>
                    <m:r>
                      <a:rPr lang="tr-TR" sz="1600" b="0" i="1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ea typeface="Cambria Math" panose="02040503050406030204" pitchFamily="18" charset="0"/>
                      </a:rPr>
                      <m:t> </m:t>
                    </m:r>
                    <m:r>
                      <a:rPr lang="tr-TR" sz="1600" b="0" i="1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ea typeface="Cambria Math" panose="02040503050406030204" pitchFamily="18" charset="0"/>
                      </a:rPr>
                      <m:t>𝑟𝑒𝑠𝑖𝑑𝑢𝑎𝑙</m:t>
                    </m:r>
                  </m:oMath>
                </a14:m>
                <a:endParaRPr lang="tr-TR" sz="1600" b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Cambria Math" panose="02040503050406030204" pitchFamily="18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tr-TR" sz="1600" b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Cambria Math" panose="02040503050406030204" pitchFamily="18" charset="0"/>
                </a:endParaRP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r-TR" sz="1100" dirty="0">
                    <a:solidFill>
                      <a:schemeClr val="tx1"/>
                    </a:solidFill>
                  </a:rPr>
                  <a:t>(</a:t>
                </a:r>
                <a:r>
                  <a:rPr lang="en-US" sz="1100" dirty="0">
                    <a:solidFill>
                      <a:schemeClr val="tx1"/>
                    </a:solidFill>
                  </a:rPr>
                  <a:t>baseline ≈ message size / link capacity</a:t>
                </a:r>
                <a:r>
                  <a:rPr lang="tr-TR" sz="1100" dirty="0">
                    <a:solidFill>
                      <a:schemeClr val="tx1"/>
                    </a:solidFill>
                  </a:rPr>
                  <a:t>)</a:t>
                </a:r>
                <a:endParaRPr lang="tr-TR" sz="1100" b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Cambria Math" panose="020405030504060302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tr-TR" altLang="tr-TR" sz="1600" dirty="0">
                  <a:solidFill>
                    <a:schemeClr val="tx1"/>
                  </a:solidFill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tr-TR" altLang="tr-TR" sz="1600" dirty="0">
                    <a:solidFill>
                      <a:schemeClr val="tx1"/>
                    </a:solidFill>
                  </a:rPr>
                  <a:t>Baseline captures coarse scaling behavior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tr-TR" altLang="tr-TR" sz="1600" dirty="0">
                    <a:solidFill>
                      <a:schemeClr val="tx1"/>
                    </a:solidFill>
                  </a:rPr>
                  <a:t>Model focuses on </a:t>
                </a:r>
                <a:r>
                  <a:rPr lang="tr-TR" altLang="tr-TR" sz="1600" b="1" dirty="0">
                    <a:solidFill>
                      <a:schemeClr val="tx1"/>
                    </a:solidFill>
                  </a:rPr>
                  <a:t>topology-specific deviations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tr-TR" sz="1600" b="1" dirty="0">
                    <a:solidFill>
                      <a:schemeClr val="tx1"/>
                    </a:solidFill>
                  </a:rPr>
                  <a:t>Model predicts log(residual) for stability</a:t>
                </a:r>
                <a:endParaRPr lang="tr-TR" sz="1600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ea typeface="Cambria Math" panose="020405030504060302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tr-TR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9" name="Flowchart: Process 8">
                <a:extLst>
                  <a:ext uri="{FF2B5EF4-FFF2-40B4-BE49-F238E27FC236}">
                    <a16:creationId xmlns:a16="http://schemas.microsoft.com/office/drawing/2014/main" id="{9103517B-7275-5827-EA55-A0025E515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650" y="2292351"/>
                <a:ext cx="5753100" cy="2800350"/>
              </a:xfrm>
              <a:prstGeom prst="flowChartProcess">
                <a:avLst/>
              </a:prstGeom>
              <a:blipFill>
                <a:blip r:embed="rId2"/>
                <a:stretch>
                  <a:fillRect l="-634" t="-3254" r="-95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77EF0DD-A0C4-BA56-5D26-EAE63F239E1D}"/>
              </a:ext>
            </a:extLst>
          </p:cNvPr>
          <p:cNvSpPr txBox="1"/>
          <p:nvPr/>
        </p:nvSpPr>
        <p:spPr>
          <a:xfrm>
            <a:off x="871150" y="2257160"/>
            <a:ext cx="380469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Graph topology (nodes + edges)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Edge features (latency, bandwidth, policy)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Global Metadata: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Message size (log-scale)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Collective type (AllGather / AlltoAll)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Predicted completion time</a:t>
            </a:r>
            <a:endParaRPr lang="tr-TR" altLang="tr-TR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tr-TR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altLang="tr-TR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(via residual reconstruction)</a:t>
            </a:r>
            <a:endParaRPr lang="tr-TR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F78179-6C68-D1A6-F000-158EE4D83DD4}"/>
              </a:ext>
            </a:extLst>
          </p:cNvPr>
          <p:cNvSpPr/>
          <p:nvPr/>
        </p:nvSpPr>
        <p:spPr>
          <a:xfrm>
            <a:off x="1894628" y="5695366"/>
            <a:ext cx="920750" cy="3807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A371E7-4303-FD4D-F9D8-3DC574D66DAE}"/>
              </a:ext>
            </a:extLst>
          </p:cNvPr>
          <p:cNvSpPr/>
          <p:nvPr/>
        </p:nvSpPr>
        <p:spPr>
          <a:xfrm>
            <a:off x="6288196" y="5349171"/>
            <a:ext cx="920750" cy="480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Global Pooling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89C722-1E09-BE8D-EE2C-5306EF2904C1}"/>
              </a:ext>
            </a:extLst>
          </p:cNvPr>
          <p:cNvSpPr/>
          <p:nvPr/>
        </p:nvSpPr>
        <p:spPr>
          <a:xfrm>
            <a:off x="4549776" y="5581139"/>
            <a:ext cx="1343024" cy="63171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Node Embeddings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779A2-EEA7-0DB2-8BB3-78C2DD9F33BB}"/>
              </a:ext>
            </a:extLst>
          </p:cNvPr>
          <p:cNvSpPr/>
          <p:nvPr/>
        </p:nvSpPr>
        <p:spPr>
          <a:xfrm>
            <a:off x="9042400" y="5706607"/>
            <a:ext cx="920750" cy="3807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2DAD6B-0CE0-1F6F-22EE-2C4DE62693FE}"/>
              </a:ext>
            </a:extLst>
          </p:cNvPr>
          <p:cNvSpPr/>
          <p:nvPr/>
        </p:nvSpPr>
        <p:spPr>
          <a:xfrm>
            <a:off x="7627198" y="5706607"/>
            <a:ext cx="920750" cy="3807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MLP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A94030-A794-B142-F184-7EFA88541DFB}"/>
              </a:ext>
            </a:extLst>
          </p:cNvPr>
          <p:cNvSpPr/>
          <p:nvPr/>
        </p:nvSpPr>
        <p:spPr>
          <a:xfrm>
            <a:off x="6198953" y="6136570"/>
            <a:ext cx="1122091" cy="480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Global Metadata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045B97-9A1B-3A2A-3C35-02D4779B6325}"/>
              </a:ext>
            </a:extLst>
          </p:cNvPr>
          <p:cNvSpPr/>
          <p:nvPr/>
        </p:nvSpPr>
        <p:spPr>
          <a:xfrm>
            <a:off x="3273083" y="5326810"/>
            <a:ext cx="985838" cy="11403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>
                <a:solidFill>
                  <a:schemeClr val="tx1"/>
                </a:solidFill>
              </a:rPr>
              <a:t>3-layer GNN Encoder (GATv2)</a:t>
            </a:r>
            <a:endParaRPr lang="tr-TR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F88B10-1D36-80AE-E135-5BF06D55A18A}"/>
              </a:ext>
            </a:extLst>
          </p:cNvPr>
          <p:cNvCxnSpPr/>
          <p:nvPr/>
        </p:nvCxnSpPr>
        <p:spPr>
          <a:xfrm>
            <a:off x="2927350" y="5880100"/>
            <a:ext cx="27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19EBB11-5E5B-86C9-1AF7-3E42FA4169E1}"/>
              </a:ext>
            </a:extLst>
          </p:cNvPr>
          <p:cNvCxnSpPr/>
          <p:nvPr/>
        </p:nvCxnSpPr>
        <p:spPr>
          <a:xfrm>
            <a:off x="8642350" y="5880100"/>
            <a:ext cx="27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F3B6E6-EDA8-FB43-BB1A-4705C96029A9}"/>
              </a:ext>
            </a:extLst>
          </p:cNvPr>
          <p:cNvCxnSpPr/>
          <p:nvPr/>
        </p:nvCxnSpPr>
        <p:spPr>
          <a:xfrm>
            <a:off x="7265717" y="5880100"/>
            <a:ext cx="27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628713-E5ED-855F-5DCE-A1A179ACF9BF}"/>
              </a:ext>
            </a:extLst>
          </p:cNvPr>
          <p:cNvCxnSpPr/>
          <p:nvPr/>
        </p:nvCxnSpPr>
        <p:spPr>
          <a:xfrm>
            <a:off x="5959475" y="5695366"/>
            <a:ext cx="27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6117AE-9F6E-A542-8918-94A46956FA0A}"/>
              </a:ext>
            </a:extLst>
          </p:cNvPr>
          <p:cNvCxnSpPr/>
          <p:nvPr/>
        </p:nvCxnSpPr>
        <p:spPr>
          <a:xfrm>
            <a:off x="4276726" y="5880100"/>
            <a:ext cx="27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90A722-B30A-08CE-B69A-24D0F08BE9B2}"/>
              </a:ext>
            </a:extLst>
          </p:cNvPr>
          <p:cNvSpPr txBox="1"/>
          <p:nvPr/>
        </p:nvSpPr>
        <p:spPr>
          <a:xfrm>
            <a:off x="6621224" y="5798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+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CAD365A7-49CD-25F3-400B-FEBA295A257E}"/>
              </a:ext>
            </a:extLst>
          </p:cNvPr>
          <p:cNvCxnSpPr>
            <a:cxnSpLocks/>
          </p:cNvCxnSpPr>
          <p:nvPr/>
        </p:nvCxnSpPr>
        <p:spPr>
          <a:xfrm>
            <a:off x="2866178" y="6023333"/>
            <a:ext cx="3332775" cy="496346"/>
          </a:xfrm>
          <a:prstGeom prst="bentConnector3">
            <a:avLst>
              <a:gd name="adj1" fmla="val 903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DBEC207-5D3C-7A3F-41F1-AD3B5B312F80}"/>
              </a:ext>
            </a:extLst>
          </p:cNvPr>
          <p:cNvCxnSpPr/>
          <p:nvPr/>
        </p:nvCxnSpPr>
        <p:spPr>
          <a:xfrm>
            <a:off x="5925903" y="6519679"/>
            <a:ext cx="273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07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5D0D-2926-3C34-C112-D05DF9A9B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tr-TR" b="1" dirty="0"/>
              <a:t>SimNet Training Results</a:t>
            </a:r>
            <a:endParaRPr lang="tr-T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8DAA38-1594-0B0C-989C-D2A68F06E9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79550" y="1528047"/>
            <a:ext cx="4445000" cy="2722562"/>
          </a:xfrm>
          <a:prstGeom prst="rect">
            <a:avLst/>
          </a:prstGeom>
          <a:noFill/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82810E9-1F70-09A7-0E97-6E18DDFAFB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55779" y="1451768"/>
            <a:ext cx="3556671" cy="271780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45949-5556-48E8-330F-C50248B9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AFE0081-1ED4-41E0-88AB-D26DBE160EA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87CA0B-9A34-C6AB-3267-A49A7FD2AC67}"/>
              </a:ext>
            </a:extLst>
          </p:cNvPr>
          <p:cNvSpPr txBox="1"/>
          <p:nvPr/>
        </p:nvSpPr>
        <p:spPr>
          <a:xfrm>
            <a:off x="600391" y="4558744"/>
            <a:ext cx="11178829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Model achieves </a:t>
            </a:r>
            <a:r>
              <a:rPr lang="tr-TR" sz="1600" dirty="0"/>
              <a:t>nearly </a:t>
            </a:r>
            <a:r>
              <a:rPr lang="en-US" sz="1600" dirty="0"/>
              <a:t>stable convergence during training</a:t>
            </a:r>
            <a:r>
              <a:rPr lang="tr-TR" sz="1600" dirty="0"/>
              <a:t>, </a:t>
            </a:r>
            <a:r>
              <a:rPr lang="tr-TR" sz="1600" dirty="0">
                <a:solidFill>
                  <a:srgbClr val="FF0000"/>
                </a:solidFill>
              </a:rPr>
              <a:t>validation loss fluctuates.</a:t>
            </a:r>
            <a:endParaRPr lang="en-US" sz="16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Good alignment between predicted and true completion times </a:t>
            </a:r>
            <a:r>
              <a:rPr lang="tr-TR" sz="1600" dirty="0"/>
              <a:t>at small scale.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FF0000"/>
                </a:solidFill>
              </a:rPr>
              <a:t>Higher variance observed for larger message sizes </a:t>
            </a:r>
            <a:r>
              <a:rPr lang="tr-TR" sz="1600" i="1" dirty="0">
                <a:solidFill>
                  <a:srgbClr val="FF0000"/>
                </a:solidFill>
              </a:rPr>
              <a:t>, </a:t>
            </a:r>
            <a:r>
              <a:rPr lang="en-US" sz="1600" dirty="0"/>
              <a:t>likely due to increased complexity and </a:t>
            </a:r>
            <a:r>
              <a:rPr lang="en-US" sz="1600" dirty="0">
                <a:solidFill>
                  <a:srgbClr val="FF0000"/>
                </a:solidFill>
              </a:rPr>
              <a:t>limited training samples in that regime</a:t>
            </a:r>
            <a:r>
              <a:rPr lang="tr-TR" sz="1600" dirty="0">
                <a:solidFill>
                  <a:srgbClr val="FF0000"/>
                </a:solidFill>
              </a:rPr>
              <a:t>.</a:t>
            </a:r>
            <a:endParaRPr lang="tr-TR" sz="1600" i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FF0000"/>
                </a:solidFill>
              </a:rPr>
              <a:t>Performance degrades slightly in high-latency / large-scale regimes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FF0000"/>
                </a:solidFill>
              </a:rPr>
              <a:t>Limited training data restricts full generalization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i="1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6062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0FB35141764A047873234D3F30138EE" ma:contentTypeVersion="8" ma:contentTypeDescription="Creare un nuovo documento." ma:contentTypeScope="" ma:versionID="b4084b027217fa550fd8285d46e5146d">
  <xsd:schema xmlns:xsd="http://www.w3.org/2001/XMLSchema" xmlns:xs="http://www.w3.org/2001/XMLSchema" xmlns:p="http://schemas.microsoft.com/office/2006/metadata/properties" xmlns:ns3="58d4b70e-563b-4541-9982-67f23ee24c89" xmlns:ns4="23e2c6a5-7d3e-4882-a1c5-a8a261f1b579" targetNamespace="http://schemas.microsoft.com/office/2006/metadata/properties" ma:root="true" ma:fieldsID="8b9e989c3e187efe1e2a438b2221997a" ns3:_="" ns4:_="">
    <xsd:import namespace="58d4b70e-563b-4541-9982-67f23ee24c89"/>
    <xsd:import namespace="23e2c6a5-7d3e-4882-a1c5-a8a261f1b5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d4b70e-563b-4541-9982-67f23ee24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e2c6a5-7d3e-4882-a1c5-a8a261f1b57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8d4b70e-563b-4541-9982-67f23ee24c89" xsi:nil="true"/>
  </documentManagement>
</p:properties>
</file>

<file path=customXml/itemProps1.xml><?xml version="1.0" encoding="utf-8"?>
<ds:datastoreItem xmlns:ds="http://schemas.openxmlformats.org/officeDocument/2006/customXml" ds:itemID="{23449E40-2135-4438-A5A5-29CD68B19E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4FDC0C-4FCA-4800-AEEE-A24CEFB8FDD0}">
  <ds:schemaRefs>
    <ds:schemaRef ds:uri="23e2c6a5-7d3e-4882-a1c5-a8a261f1b579"/>
    <ds:schemaRef ds:uri="58d4b70e-563b-4541-9982-67f23ee24c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A52F6AD-D252-4BD4-8266-2AA6497ADE4E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23e2c6a5-7d3e-4882-a1c5-a8a261f1b579"/>
    <ds:schemaRef ds:uri="http://schemas.microsoft.com/office/infopath/2007/PartnerControls"/>
    <ds:schemaRef ds:uri="58d4b70e-563b-4541-9982-67f23ee24c8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</TotalTime>
  <Words>820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</vt:lpstr>
      <vt:lpstr>Calibri Light</vt:lpstr>
      <vt:lpstr>Cambria Math</vt:lpstr>
      <vt:lpstr>Office Theme</vt:lpstr>
      <vt:lpstr>Custom Design</vt:lpstr>
      <vt:lpstr>1_Custom Design</vt:lpstr>
      <vt:lpstr>From TE-CCL to Graph Neural Policy Learning for Adaptive Collective Communication</vt:lpstr>
      <vt:lpstr>PowerPoint Presentation</vt:lpstr>
      <vt:lpstr>TE-CCL Repository as Teacher and Data Source</vt:lpstr>
      <vt:lpstr>Topologies Used in Final Dataset</vt:lpstr>
      <vt:lpstr>TE-CCL Repository as Teacher and Data Source</vt:lpstr>
      <vt:lpstr>Graph Construction from Topology </vt:lpstr>
      <vt:lpstr>Policy Matrix Extraction from TE-CCL Flows</vt:lpstr>
      <vt:lpstr>The Agent GNN</vt:lpstr>
      <vt:lpstr>Agent Training Results</vt:lpstr>
      <vt:lpstr>SimNet GNN: The Proxy Model</vt:lpstr>
      <vt:lpstr>SimNet Training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Machine Learning for Design and Optimization  of Optical Networks</dc:title>
  <dc:creator>Mëmëdhe Ibrahimi</dc:creator>
  <cp:lastModifiedBy>Pinar Nur Ozkaplan</cp:lastModifiedBy>
  <cp:revision>34</cp:revision>
  <cp:lastPrinted>2026-04-15T02:34:39Z</cp:lastPrinted>
  <dcterms:created xsi:type="dcterms:W3CDTF">2023-09-07T17:16:43Z</dcterms:created>
  <dcterms:modified xsi:type="dcterms:W3CDTF">2026-04-15T02:56:31Z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0x01010060FB35141764A047873234D3F30138EE</vt:lpwstr>
  </property>
</Properties>
</file>